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handoutMasterIdLst>
    <p:handoutMasterId r:id="rId13"/>
  </p:handout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handoutMaster" Target="handoutMasters/handoutMaster1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9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291346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900"/>
            </a:lvl1pPr>
          </a:lstStyle>
          <a:p>
            <a:fld id="{696C064A-D61B-4B21-B757-51A9B82445B8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291346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/>
            </a:lvl1pPr>
          </a:lstStyle>
          <a:p>
            <a:fld id="{50305E07-67EA-4042-A3F6-853A8AD8D20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6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0" y="-1645920"/>
            <a:ext cx="6400800" cy="6400800"/>
          </a:xfrm>
          <a:prstGeom prst="ellipse">
            <a:avLst/>
          </a:prstGeom>
          <a:solidFill>
            <a:srgbClr val="0F766E">
              <a:alpha val="7000"/>
            </a:srgbClr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457200"/>
            <a:ext cx="4114800" cy="4114800"/>
          </a:xfrm>
          <a:prstGeom prst="ellipse">
            <a:avLst/>
          </a:prstGeom>
          <a:solidFill>
            <a:srgbClr val="3B5BDB">
              <a:alpha val="10000"/>
            </a:srgbClr>
          </a:solidFill>
          <a:ln w="12700">
            <a:solidFill>
              <a:srgbClr val="3B5B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2194560" cy="292608"/>
          </a:xfrm>
          <a:prstGeom prst="rect">
            <a:avLst/>
          </a:prstGeom>
          <a:solidFill>
            <a:srgbClr val="0F766E">
              <a:alpha val="15000"/>
            </a:srgbClr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1556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F766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IRONHACK FINAL PROJECT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777240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altLang="en-US" sz="44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StocksTalk.AI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070225"/>
            <a:ext cx="7315200" cy="81655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en-US" sz="4400" b="1" dirty="0">
                <a:solidFill>
                  <a:srgbClr val="0F766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Multimodal AI ChatBot</a:t>
            </a:r>
            <a:r>
              <a:rPr lang="de-DE" altLang="en-US" sz="4400" b="1" dirty="0">
                <a:solidFill>
                  <a:srgbClr val="0F766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f</a:t>
            </a:r>
            <a:r>
              <a:rPr lang="en-US" sz="4400" b="1" dirty="0">
                <a:solidFill>
                  <a:srgbClr val="0F766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or YouTube Video QA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57200" y="4128770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RAG  ·  LangChain Agents  ·  Pinecone  ·  Streamlit  ·  LangSmith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0" y="4663440"/>
            <a:ext cx="9144000" cy="475488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4736592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altLang="en-US" sz="1100" dirty="0">
                <a:latin typeface="Calibri" panose="020F0502020204030204" pitchFamily="34" charset="0"/>
              </a:rPr>
              <a:t>by Bianca</a:t>
            </a:r>
            <a:endParaRPr lang="de-DE" altLang="en-US" sz="1100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01168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Hook + Overview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713232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The pitch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694944"/>
            <a:ext cx="1097280" cy="3657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005840"/>
            <a:ext cx="8412480" cy="960120"/>
          </a:xfrm>
          <a:prstGeom prst="rect">
            <a:avLst/>
          </a:prstGeom>
          <a:solidFill>
            <a:srgbClr val="F0FDF9"/>
          </a:solidFill>
          <a:ln w="12700">
            <a:solidFill>
              <a:srgbClr val="0F766E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005840"/>
            <a:ext cx="64008" cy="9601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051560"/>
            <a:ext cx="8046720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altLang="en-US" sz="1500" b="1" i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The aim is to ask</a:t>
            </a:r>
            <a:r>
              <a:rPr lang="en-US" sz="1500" b="1" i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any question about a YouTube </a:t>
            </a:r>
            <a:r>
              <a:rPr lang="de-DE" altLang="en-US" sz="1500" b="1" i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financial </a:t>
            </a:r>
            <a:r>
              <a:rPr lang="en-US" sz="1500" b="1" i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channel</a:t>
            </a:r>
            <a:endParaRPr lang="en-US" sz="1500" dirty="0"/>
          </a:p>
          <a:p>
            <a:pPr marL="0" indent="0">
              <a:buNone/>
            </a:pPr>
            <a:r>
              <a:rPr lang="en-US" sz="1500" b="1" i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and get an instant, sourced answer — with exact video timestamps</a:t>
            </a:r>
            <a:r>
              <a:rPr lang="de-DE" altLang="en-US" sz="1500" b="1" i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.</a:t>
            </a:r>
            <a:endParaRPr lang="de-DE" altLang="en-US" sz="1500" b="1" i="1" dirty="0">
              <a:solidFill>
                <a:srgbClr val="1E293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65760" y="2148840"/>
            <a:ext cx="2651760" cy="25603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2331720"/>
            <a:ext cx="502920" cy="5029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02920" y="2926080"/>
            <a:ext cx="237744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766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Voice &amp; Text Input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02920" y="3291840"/>
            <a:ext cx="237744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Ask by typing or speaking — Whisper STT converts audio to text automatically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200400" y="2148840"/>
            <a:ext cx="2651760" cy="25603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0" y="233172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337560" y="2926080"/>
            <a:ext cx="237744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766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YouTube RAG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3337560" y="3291840"/>
            <a:ext cx="237744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Transcribes 30 videos, chunks, embeds into Pinecone, retrieves top-3 passages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035040" y="2148840"/>
            <a:ext cx="2651760" cy="25603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2331720"/>
            <a:ext cx="502920" cy="5029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172200" y="2926080"/>
            <a:ext cx="237744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766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AI Agent + Memory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6172200" y="3291840"/>
            <a:ext cx="237744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LangChain agent with memory routes queries to RAG or stock ticker tool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01168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System Architecture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713232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How the components work together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694944"/>
            <a:ext cx="1097280" cy="3657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1005840"/>
            <a:ext cx="41148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097280"/>
            <a:ext cx="3749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F766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PIPELINE FLOW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solidFill>
            <a:srgbClr val="0F766E">
              <a:alpha val="80000"/>
            </a:srgbClr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0936" y="1874520"/>
            <a:ext cx="54864" cy="365760"/>
          </a:xfrm>
          <a:prstGeom prst="rect">
            <a:avLst/>
          </a:prstGeom>
          <a:solidFill>
            <a:srgbClr val="64748B">
              <a:alpha val="40000"/>
            </a:srgbClr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1481328"/>
            <a:ext cx="3200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User Input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1682496"/>
            <a:ext cx="3200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Text or voice (Whisper STT) via Streamlit UI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240280"/>
            <a:ext cx="411480" cy="411480"/>
          </a:xfrm>
          <a:prstGeom prst="rect">
            <a:avLst/>
          </a:prstGeom>
          <a:solidFill>
            <a:srgbClr val="3B5BDB">
              <a:alpha val="80000"/>
            </a:srgbClr>
          </a:solidFill>
          <a:ln w="12700">
            <a:solidFill>
              <a:srgbClr val="3B5B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240280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02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0936" y="2651760"/>
            <a:ext cx="54864" cy="365760"/>
          </a:xfrm>
          <a:prstGeom prst="rect">
            <a:avLst/>
          </a:prstGeom>
          <a:solidFill>
            <a:srgbClr val="64748B">
              <a:alpha val="40000"/>
            </a:srgbClr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2258568"/>
            <a:ext cx="3200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Agent (LangChain)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" y="2459736"/>
            <a:ext cx="3200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CHAT_CONVERSATIONAL_REACT selects tool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solidFill>
            <a:srgbClr val="0F766E">
              <a:alpha val="80000"/>
            </a:srgbClr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03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30936" y="3429000"/>
            <a:ext cx="54864" cy="365760"/>
          </a:xfrm>
          <a:prstGeom prst="rect">
            <a:avLst/>
          </a:prstGeom>
          <a:solidFill>
            <a:srgbClr val="64748B">
              <a:alpha val="40000"/>
            </a:srgbClr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3035808"/>
            <a:ext cx="3200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RAG Core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05840" y="3236976"/>
            <a:ext cx="3200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Pinecone k=3 retrieval + GPT-4o-mini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794760"/>
            <a:ext cx="411480" cy="411480"/>
          </a:xfrm>
          <a:prstGeom prst="rect">
            <a:avLst/>
          </a:prstGeom>
          <a:solidFill>
            <a:srgbClr val="D97706">
              <a:alpha val="80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3794760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05840" y="3813048"/>
            <a:ext cx="3200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Output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05840" y="4014216"/>
            <a:ext cx="3200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Answer + video timestamps + embedded player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1005840"/>
            <a:ext cx="416052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846320" y="1097280"/>
            <a:ext cx="3749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3B5B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TECH STACK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754880" y="1444752"/>
            <a:ext cx="64008" cy="25603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37760" y="1444752"/>
            <a:ext cx="1005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766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LLM: 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43600" y="1444752"/>
            <a:ext cx="2651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GPT-4o-mini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754880" y="1901952"/>
            <a:ext cx="64008" cy="25603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37760" y="1901952"/>
            <a:ext cx="1005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766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Embeddings: 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943600" y="1901952"/>
            <a:ext cx="2651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text-embedding-3-small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754880" y="2359152"/>
            <a:ext cx="64008" cy="256032"/>
          </a:xfrm>
          <a:prstGeom prst="rect">
            <a:avLst/>
          </a:prstGeom>
          <a:solidFill>
            <a:srgbClr val="3B5BDB"/>
          </a:solidFill>
          <a:ln w="12700">
            <a:solidFill>
              <a:srgbClr val="3B5BD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37760" y="2359152"/>
            <a:ext cx="1005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5B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Vector DB: 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943600" y="2359152"/>
            <a:ext cx="2651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Pinecone (1536d, </a:t>
            </a:r>
            <a:r>
              <a:rPr lang="de-DE" altLang="en-US" sz="10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cosine</a:t>
            </a:r>
            <a:r>
              <a:rPr lang="en-US" sz="10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754880" y="2816352"/>
            <a:ext cx="64008" cy="256032"/>
          </a:xfrm>
          <a:prstGeom prst="rect">
            <a:avLst/>
          </a:prstGeom>
          <a:solidFill>
            <a:srgbClr val="3B5BDB"/>
          </a:solidFill>
          <a:ln w="12700">
            <a:solidFill>
              <a:srgbClr val="3B5BD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37760" y="2816352"/>
            <a:ext cx="1005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5B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Agent: 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943600" y="2816352"/>
            <a:ext cx="2651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LangChain REACT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754880" y="3273552"/>
            <a:ext cx="64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37760" y="3273552"/>
            <a:ext cx="1005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STT: 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943600" y="3273552"/>
            <a:ext cx="2651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OpenAI Whisper API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754880" y="3730752"/>
            <a:ext cx="64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937760" y="3730752"/>
            <a:ext cx="1005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UI: 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943600" y="3730752"/>
            <a:ext cx="2651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Streamlit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754880" y="4187952"/>
            <a:ext cx="64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937760" y="4187952"/>
            <a:ext cx="1005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Eval: 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943600" y="4187952"/>
            <a:ext cx="2651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LangSmith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01168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Dataset &amp; Data Pipeline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713232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From YouTube channel to Pinecone vector index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694944"/>
            <a:ext cx="1097280" cy="3657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0" y="91440"/>
            <a:ext cx="502920" cy="502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20040" y="1051560"/>
            <a:ext cx="4160520" cy="18288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20040" y="1051560"/>
            <a:ext cx="4160520" cy="320040"/>
          </a:xfrm>
          <a:prstGeom prst="rect">
            <a:avLst/>
          </a:prstGeom>
          <a:solidFill>
            <a:srgbClr val="0F766E">
              <a:alpha val="15000"/>
            </a:srgbClr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" y="1097280"/>
            <a:ext cx="3840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 Source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1435608"/>
            <a:ext cx="384048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YouTube channel (UCWgk87pKcNHragGsV2WIh5w)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 videos, filtered: 2–60 min duration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Automatically fetched via yt-dlp + feedparser RSS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709160" y="1051560"/>
            <a:ext cx="4160520" cy="18288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709160" y="1051560"/>
            <a:ext cx="4160520" cy="320040"/>
          </a:xfrm>
          <a:prstGeom prst="rect">
            <a:avLst/>
          </a:prstGeom>
          <a:solidFill>
            <a:srgbClr val="3B5BDB">
              <a:alpha val="15000"/>
            </a:srgbClr>
          </a:solidFill>
          <a:ln w="12700">
            <a:solidFill>
              <a:srgbClr val="3B5BD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46320" y="1097280"/>
            <a:ext cx="3840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B5B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Transcription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846320" y="1435608"/>
            <a:ext cx="384048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Primary: youtube-transcript-api (EN + RO)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Fallback: OpenAI Whisper-1 API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Audio compressed to 16kHz mono MP3 &lt; 25MB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20040" y="3017520"/>
            <a:ext cx="4160520" cy="18288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320040" y="3017520"/>
            <a:ext cx="4160520" cy="320040"/>
          </a:xfrm>
          <a:prstGeom prst="rect">
            <a:avLst/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3063240"/>
            <a:ext cx="3840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Chunking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3401568"/>
            <a:ext cx="384048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RecursiveCharacterTextSplitter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Chunk size: 400 tokens | Overlap: 50 tokens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Timestamps [hh:mm:ss] preserved per chunk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709160" y="3017520"/>
            <a:ext cx="4160520" cy="18288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709160" y="3017520"/>
            <a:ext cx="4160520" cy="320040"/>
          </a:xfrm>
          <a:prstGeom prst="rect">
            <a:avLst/>
          </a:prstGeom>
          <a:solidFill>
            <a:srgbClr val="0F766E">
              <a:alpha val="15000"/>
            </a:srgbClr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846320" y="3063240"/>
            <a:ext cx="3840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Pinecone Index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846320" y="3401568"/>
            <a:ext cx="384048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Dim: 1536 | Metric: </a:t>
            </a:r>
            <a:r>
              <a:rPr lang="de-DE" altLang="en-US" sz="10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cosine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Serverless AWS us-east-1</a:t>
            </a:r>
            <a:endParaRPr lang="en-US" sz="1000" dirty="0"/>
          </a:p>
          <a:p>
            <a:pPr marL="0" indent="0">
              <a:buNone/>
            </a:pPr>
            <a:r>
              <a:rPr lang="de-DE" altLang="en-US" sz="10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Record count: 808</a:t>
            </a:r>
            <a:endParaRPr lang="en-US" sz="10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Metadata: text, start_time, end_time, video_id, source_file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01168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Q&amp;A Agent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713232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LangChain CHAT_CONVERSATIONAL_REACT_DESCRIPTION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694944"/>
            <a:ext cx="1097280" cy="3657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0" y="91440"/>
            <a:ext cx="502920" cy="502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20040" y="1005840"/>
            <a:ext cx="512064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02920" y="1078992"/>
            <a:ext cx="47548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F766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AGENT CONFIGURATION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7200" y="1408176"/>
            <a:ext cx="480060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4360" y="1426464"/>
            <a:ext cx="12344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Type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920240" y="1426464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CHAT_CONVERSATIONAL_REACT_DESCRIPTION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57200" y="1920240"/>
            <a:ext cx="48006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4360" y="1938528"/>
            <a:ext cx="12344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LLM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1920240" y="1938528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GPT-4o-mini, temperature=0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57200" y="2432304"/>
            <a:ext cx="480060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4360" y="2450592"/>
            <a:ext cx="12344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Max iter</a:t>
            </a:r>
            <a:r>
              <a:rPr lang="de-DE" altLang="en-US" sz="1050" b="1" dirty="0">
                <a:solidFill>
                  <a:srgbClr val="0F766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ations</a:t>
            </a:r>
            <a:endParaRPr lang="de-DE" altLang="en-US" sz="1050" b="1" dirty="0">
              <a:solidFill>
                <a:srgbClr val="0F766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920240" y="2450592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  |  early_stopping: generate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57200" y="2944368"/>
            <a:ext cx="48006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4360" y="2998851"/>
            <a:ext cx="12344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Error h</a:t>
            </a:r>
            <a:r>
              <a:rPr lang="de-DE" altLang="en-US" sz="1050" b="1" dirty="0">
                <a:solidFill>
                  <a:srgbClr val="0F766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an</a:t>
            </a:r>
            <a:r>
              <a:rPr lang="en-US" sz="1050" b="1" dirty="0">
                <a:solidFill>
                  <a:srgbClr val="0F766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dl</a:t>
            </a:r>
            <a:r>
              <a:rPr lang="de-DE" altLang="en-US" sz="1050" b="1" dirty="0">
                <a:solidFill>
                  <a:srgbClr val="0F766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ing</a:t>
            </a:r>
            <a:endParaRPr lang="de-DE" altLang="en-US" sz="1050" b="1" dirty="0">
              <a:solidFill>
                <a:srgbClr val="0F766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1920240" y="2962656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handle_parsing_errors=True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57200" y="3456432"/>
            <a:ext cx="480060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94360" y="3474720"/>
            <a:ext cx="12344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Tracing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1920240" y="3474720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LangSmith EU endpoint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457200" y="3968496"/>
            <a:ext cx="48006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94360" y="3986784"/>
            <a:ext cx="12344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766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Steps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1920240" y="3986784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intermediate_steps captured for </a:t>
            </a:r>
            <a:r>
              <a:rPr lang="de-DE" alt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embedded video display and </a:t>
            </a: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eval</a:t>
            </a:r>
            <a:r>
              <a:rPr lang="de-DE" alt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uation</a:t>
            </a:r>
            <a:endParaRPr lang="de-DE" altLang="en-US" sz="105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5669280" y="1005840"/>
            <a:ext cx="31546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5669280" y="1005840"/>
            <a:ext cx="54864" cy="1691640"/>
          </a:xfrm>
          <a:prstGeom prst="rect">
            <a:avLst/>
          </a:prstGeom>
          <a:solidFill>
            <a:srgbClr val="3B5BDB"/>
          </a:solidFill>
          <a:ln w="12700">
            <a:solidFill>
              <a:srgbClr val="3B5BDB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897880" y="1078992"/>
            <a:ext cx="2834640" cy="2468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3B5B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MEMORY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5897880" y="1371600"/>
            <a:ext cx="283464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ConversationBufferWindowMemory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k=5 last exchanges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memory_key: chat_history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return_messages: True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5669280" y="2834640"/>
            <a:ext cx="315468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5669280" y="2834640"/>
            <a:ext cx="54864" cy="19202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897880" y="2907792"/>
            <a:ext cx="2834640" cy="2468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D9770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PROMPT RULES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5897880" y="3200400"/>
            <a:ext cx="2834640" cy="1417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Prefer Source 1 (most relevant)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Always include VIDEO LINK + TIMESTAMP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Format: [TIMESTAMP] [VIDEO_URL]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Say "I don't know" if not in context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01168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Agent Tools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713232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 capabilities powering the assistant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694944"/>
            <a:ext cx="1097280" cy="3657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0" y="91440"/>
            <a:ext cx="502920" cy="502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20040" y="1051560"/>
            <a:ext cx="4160520" cy="37033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20040" y="1051560"/>
            <a:ext cx="4160520" cy="411480"/>
          </a:xfrm>
          <a:prstGeom prst="rect">
            <a:avLst/>
          </a:prstGeom>
          <a:solidFill>
            <a:srgbClr val="0F766E">
              <a:alpha val="20000"/>
            </a:srgbClr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1124712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68680" y="1115568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766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rag_qa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3063240" y="1152144"/>
            <a:ext cx="128016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0F766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PRIMARY TOOL</a:t>
            </a:r>
            <a:endParaRPr lang="en-US" sz="750" dirty="0"/>
          </a:p>
        </p:txBody>
      </p:sp>
      <p:sp>
        <p:nvSpPr>
          <p:cNvPr id="13" name="Text 9"/>
          <p:cNvSpPr/>
          <p:nvPr/>
        </p:nvSpPr>
        <p:spPr>
          <a:xfrm>
            <a:off x="502920" y="1572768"/>
            <a:ext cx="3794760" cy="1554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Queries Pinecone vector store (k=3 docs), runs RAG chain with GPT-4o-mini, returns answer + list of video segments with embed links and timestamps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84632" y="3200400"/>
            <a:ext cx="3749040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594360" y="3246120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766E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Input: str — natural language question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484632" y="3675888"/>
            <a:ext cx="3749040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594360" y="37216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9770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Returns: { answer: str, segments: list }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4709160" y="1051560"/>
            <a:ext cx="4160520" cy="37033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709160" y="1051560"/>
            <a:ext cx="4160520" cy="411480"/>
          </a:xfrm>
          <a:prstGeom prst="rect">
            <a:avLst/>
          </a:prstGeom>
          <a:solidFill>
            <a:srgbClr val="3B5BDB">
              <a:alpha val="20000"/>
            </a:srgbClr>
          </a:solidFill>
          <a:ln w="12700">
            <a:solidFill>
              <a:srgbClr val="3B5BDB"/>
            </a:solidFill>
            <a:prstDash val="solid"/>
          </a:ln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3752" y="1124712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257800" y="1115568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5B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get_stock_ticker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7452360" y="1152144"/>
            <a:ext cx="128016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3B5B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SECONDARY TOOL</a:t>
            </a:r>
            <a:endParaRPr lang="en-US" sz="750" dirty="0"/>
          </a:p>
        </p:txBody>
      </p:sp>
      <p:sp>
        <p:nvSpPr>
          <p:cNvPr id="23" name="Text 18"/>
          <p:cNvSpPr/>
          <p:nvPr/>
        </p:nvSpPr>
        <p:spPr>
          <a:xfrm>
            <a:off x="4892040" y="1572768"/>
            <a:ext cx="3794760" cy="1554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Uses yfinance to search company name → returns ticker symbol + real-time current stock price. Demonstrates multi-tool agent capability beyond just video QA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4873752" y="3200400"/>
            <a:ext cx="3749040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Text 20"/>
          <p:cNvSpPr/>
          <p:nvPr/>
        </p:nvSpPr>
        <p:spPr>
          <a:xfrm>
            <a:off x="4983480" y="3246120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766E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Input: str — company name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4873752" y="3675888"/>
            <a:ext cx="3749040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Text 22"/>
          <p:cNvSpPr/>
          <p:nvPr/>
        </p:nvSpPr>
        <p:spPr>
          <a:xfrm>
            <a:off x="4983480" y="37216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9770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Returns: "TSLA - Tesla Inc, Price: 250.3"</a:t>
            </a:r>
            <a:endParaRPr lang="en-US" sz="950" dirty="0"/>
          </a:p>
        </p:txBody>
      </p:sp>
      <p:sp>
        <p:nvSpPr>
          <p:cNvPr id="28" name="Shape 23"/>
          <p:cNvSpPr/>
          <p:nvPr/>
        </p:nvSpPr>
        <p:spPr>
          <a:xfrm>
            <a:off x="320040" y="4709160"/>
            <a:ext cx="850392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Text 24"/>
          <p:cNvSpPr/>
          <p:nvPr/>
        </p:nvSpPr>
        <p:spPr>
          <a:xfrm>
            <a:off x="457200" y="4736592"/>
            <a:ext cx="82296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Pinecone:  index=test-index  |  dim=1536  |  metric=</a:t>
            </a:r>
            <a:r>
              <a:rPr lang="en-US" sz="900" dirty="0">
                <a:solidFill>
                  <a:srgbClr val="64748B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cosine</a:t>
            </a:r>
            <a:r>
              <a:rPr lang="en-US" sz="900" dirty="0">
                <a:solidFill>
                  <a:srgbClr val="64748B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|  ServerlessSpec AWS us-east-1  |  batches of 100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01168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Evaluation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713232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Multi-level quality assessment with LangSmith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694944"/>
            <a:ext cx="1097280" cy="3657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0" y="91440"/>
            <a:ext cx="502920" cy="502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20040" y="1005840"/>
            <a:ext cx="41148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20040" y="1005840"/>
            <a:ext cx="54864" cy="3749040"/>
          </a:xfrm>
          <a:prstGeom prst="rect">
            <a:avLst/>
          </a:prstGeom>
          <a:solidFill>
            <a:srgbClr val="3B5BDB"/>
          </a:solidFill>
          <a:ln w="12700">
            <a:solidFill>
              <a:srgbClr val="3B5BD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1078992"/>
            <a:ext cx="37490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3B5B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OFFLINE — LangSmith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57200" y="1399032"/>
            <a:ext cx="3749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594360" y="1426464"/>
            <a:ext cx="7772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5B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Dataset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417320" y="1426464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"rag-agent-tests"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57200" y="1920240"/>
            <a:ext cx="37490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94360" y="1947672"/>
            <a:ext cx="7772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5B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Ex. 1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417320" y="1947672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RAG query about video content → expected long answer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57200" y="2441448"/>
            <a:ext cx="3749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94360" y="2468880"/>
            <a:ext cx="7772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5B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Ex. 2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417320" y="2468880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Stock ticker lookup → TSLA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57200" y="2962656"/>
            <a:ext cx="37490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94360" y="2990088"/>
            <a:ext cx="7772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5B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Ex. 3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1417320" y="2990088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Off-topic (penguin hours?) → no tool expected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57200" y="3483864"/>
            <a:ext cx="3749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94360" y="3511296"/>
            <a:ext cx="7772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5B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Eval run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1417320" y="3511296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evaluate() with correctness, relevance, groundedness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57200" y="4005072"/>
            <a:ext cx="37490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94360" y="4032504"/>
            <a:ext cx="7772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5B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Tracing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1417320" y="4032504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Full agent trace stored in LangSmith EU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663440" y="1005840"/>
            <a:ext cx="416052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4846320" y="1078992"/>
            <a:ext cx="37490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F766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LIVE — Per-Response Scores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4800600" y="1444752"/>
            <a:ext cx="388620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800600" y="1444752"/>
            <a:ext cx="54864" cy="8686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983480" y="1517904"/>
            <a:ext cx="32004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Relevance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4983480" y="1810512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Is the answer on-topic?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7315200" y="1719072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F766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 – 1.0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800600" y="2468880"/>
            <a:ext cx="388620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3B5BDB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800600" y="2468880"/>
            <a:ext cx="54864" cy="868680"/>
          </a:xfrm>
          <a:prstGeom prst="rect">
            <a:avLst/>
          </a:prstGeom>
          <a:solidFill>
            <a:srgbClr val="3B5BDB"/>
          </a:solidFill>
          <a:ln w="12700">
            <a:solidFill>
              <a:srgbClr val="3B5BDB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4983480" y="2542032"/>
            <a:ext cx="32004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5B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Groundedness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4983480" y="2834640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 hallucination, grounded in context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7315200" y="274320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3B5B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 – 1.0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4800600" y="3493008"/>
            <a:ext cx="388620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800600" y="3493008"/>
            <a:ext cx="54864" cy="8686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983480" y="3566160"/>
            <a:ext cx="32004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Tool Use</a:t>
            </a:r>
            <a:endParaRPr lang="en-US" sz="1300" dirty="0"/>
          </a:p>
        </p:txBody>
      </p:sp>
      <p:sp>
        <p:nvSpPr>
          <p:cNvPr id="44" name="Text 41"/>
          <p:cNvSpPr/>
          <p:nvPr/>
        </p:nvSpPr>
        <p:spPr>
          <a:xfrm>
            <a:off x="4983480" y="3858768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Correct tool called with str input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7315200" y="3767328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D9770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 – 1.0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4846320" y="4343400"/>
            <a:ext cx="39319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Scores computed by GPT-4o-mini LLM-judge via evaluate_live() shown in Streamlit UI after each response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01168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Conclusion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713232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From raw YouTube to a full Streamlit chatbot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694944"/>
            <a:ext cx="1097280" cy="3657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005840"/>
            <a:ext cx="8412480" cy="1051560"/>
          </a:xfrm>
          <a:prstGeom prst="rect">
            <a:avLst/>
          </a:prstGeom>
          <a:solidFill>
            <a:srgbClr val="F0FDF9"/>
          </a:solidFill>
          <a:ln w="12700">
            <a:solidFill>
              <a:srgbClr val="0F766E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005840"/>
            <a:ext cx="64008" cy="10515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078992"/>
            <a:ext cx="8046720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End-to-end multimodal RAG pipeline: from raw YouTube videos to a deployable Streamlit chatbot answering questions with exact video timestamps — via text or voice.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65760" y="2331720"/>
            <a:ext cx="2651760" cy="457200"/>
          </a:xfrm>
          <a:prstGeom prst="rect">
            <a:avLst/>
          </a:prstGeom>
          <a:solidFill>
            <a:srgbClr val="0F766E">
              <a:alpha val="12000"/>
            </a:srgbClr>
          </a:solidFill>
          <a:ln w="19050">
            <a:solidFill>
              <a:srgbClr val="0F766E"/>
            </a:solidFill>
            <a:prstDash val="solid"/>
          </a:ln>
        </p:spPr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441448"/>
            <a:ext cx="256032" cy="256032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41248" y="242316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 videos indexed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200400" y="2331720"/>
            <a:ext cx="2651760" cy="457200"/>
          </a:xfrm>
          <a:prstGeom prst="rect">
            <a:avLst/>
          </a:prstGeom>
          <a:solidFill>
            <a:srgbClr val="3B5BDB">
              <a:alpha val="12000"/>
            </a:srgbClr>
          </a:solidFill>
          <a:ln w="19050">
            <a:solidFill>
              <a:srgbClr val="3B5BDB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7560" y="2441448"/>
            <a:ext cx="256032" cy="25603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675888" y="242316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B5B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Whisper STT fallback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035040" y="2331720"/>
            <a:ext cx="2651760" cy="457200"/>
          </a:xfrm>
          <a:prstGeom prst="rect">
            <a:avLst/>
          </a:prstGeom>
          <a:solidFill>
            <a:srgbClr val="0F766E">
              <a:alpha val="12000"/>
            </a:srgbClr>
          </a:solidFill>
          <a:ln w="19050">
            <a:solidFill>
              <a:srgbClr val="0F766E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2441448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510528" y="242316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LangChain Agent + Memory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365760" y="2971800"/>
            <a:ext cx="2651760" cy="457200"/>
          </a:xfrm>
          <a:prstGeom prst="rect">
            <a:avLst/>
          </a:prstGeom>
          <a:solidFill>
            <a:srgbClr val="D97706">
              <a:alpha val="12000"/>
            </a:srgbClr>
          </a:solidFill>
          <a:ln w="19050">
            <a:solidFill>
              <a:srgbClr val="D97706"/>
            </a:solidFill>
            <a:prstDash val="solid"/>
          </a:ln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081528"/>
            <a:ext cx="256032" cy="25603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41248" y="306324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Real-time LLM evaluation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3200400" y="2971800"/>
            <a:ext cx="2651760" cy="457200"/>
          </a:xfrm>
          <a:prstGeom prst="rect">
            <a:avLst/>
          </a:prstGeom>
          <a:solidFill>
            <a:srgbClr val="3B5BDB">
              <a:alpha val="12000"/>
            </a:srgbClr>
          </a:solidFill>
          <a:ln w="19050">
            <a:solidFill>
              <a:srgbClr val="3B5BDB"/>
            </a:solidFill>
            <a:prstDash val="solid"/>
          </a:ln>
        </p:spPr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7560" y="3081528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3675888" y="306324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B5B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Pinecone vector search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6035040" y="2971800"/>
            <a:ext cx="2651760" cy="457200"/>
          </a:xfrm>
          <a:prstGeom prst="rect">
            <a:avLst/>
          </a:prstGeom>
          <a:solidFill>
            <a:srgbClr val="D97706">
              <a:alpha val="12000"/>
            </a:srgbClr>
          </a:solidFill>
          <a:ln w="19050">
            <a:solidFill>
              <a:srgbClr val="D97706"/>
            </a:solidFill>
            <a:prstDash val="solid"/>
          </a:ln>
        </p:spPr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3081528"/>
            <a:ext cx="256032" cy="256032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6510528" y="306324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Streamlit web app</a:t>
            </a:r>
            <a:endParaRPr lang="en-US" sz="1100" dirty="0"/>
          </a:p>
        </p:txBody>
      </p:sp>
      <p:sp>
        <p:nvSpPr>
          <p:cNvPr id="28" name="Text 20"/>
          <p:cNvSpPr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Ask by text or voice  →  Get an answer  →  Watch the exact moment in the video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01168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Demo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713232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Live walkthrough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694944"/>
            <a:ext cx="1097280" cy="3657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73152"/>
            <a:ext cx="640080" cy="640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20040" y="1078992"/>
            <a:ext cx="4160520" cy="11430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20040" y="1078992"/>
            <a:ext cx="54864" cy="1143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84632" y="1124712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766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960120" y="1152144"/>
            <a:ext cx="33832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Launch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02920" y="1536192"/>
            <a:ext cx="3840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streamlit run app_streamlit.py  →  open localhost:8501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709160" y="1078992"/>
            <a:ext cx="4160520" cy="11430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709160" y="1078992"/>
            <a:ext cx="54864" cy="1143000"/>
          </a:xfrm>
          <a:prstGeom prst="rect">
            <a:avLst/>
          </a:prstGeom>
          <a:solidFill>
            <a:srgbClr val="3B5BDB"/>
          </a:solidFill>
          <a:ln w="12700">
            <a:solidFill>
              <a:srgbClr val="3B5BD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873752" y="1124712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B5B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02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5349240" y="1152144"/>
            <a:ext cx="33832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Text query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892040" y="1536192"/>
            <a:ext cx="3840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Type a question about the channel content → see answer + video segments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20040" y="2359152"/>
            <a:ext cx="4160520" cy="11430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20040" y="2359152"/>
            <a:ext cx="54864" cy="1143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84632" y="2404872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766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03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960120" y="2432304"/>
            <a:ext cx="33832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Voice query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02920" y="2816352"/>
            <a:ext cx="3840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Record same question via microphone → Whisper transcribes → same RAG flow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4709160" y="2359152"/>
            <a:ext cx="4160520" cy="11430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709160" y="2359152"/>
            <a:ext cx="54864" cy="11430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873752" y="2404872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9770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04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5349240" y="2432304"/>
            <a:ext cx="33832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timestamp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4892040" y="2816352"/>
            <a:ext cx="3840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a segment button → video jumps to exact moment in embedded player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20040" y="3639312"/>
            <a:ext cx="4160520" cy="11430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320040" y="3639312"/>
            <a:ext cx="54864" cy="1143000"/>
          </a:xfrm>
          <a:prstGeom prst="rect">
            <a:avLst/>
          </a:prstGeom>
          <a:solidFill>
            <a:srgbClr val="3B5BDB"/>
          </a:solidFill>
          <a:ln w="12700">
            <a:solidFill>
              <a:srgbClr val="3B5BDB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84632" y="3685032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B5B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05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960120" y="3712464"/>
            <a:ext cx="33832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Stock ticker</a:t>
            </a:r>
            <a:endParaRPr lang="en-US" sz="1250" dirty="0"/>
          </a:p>
        </p:txBody>
      </p:sp>
      <p:sp>
        <p:nvSpPr>
          <p:cNvPr id="32" name="Text 29"/>
          <p:cNvSpPr/>
          <p:nvPr/>
        </p:nvSpPr>
        <p:spPr>
          <a:xfrm>
            <a:off x="502920" y="4096512"/>
            <a:ext cx="3840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Ask about a company → agent routes to get_stock_ticker tool (no RAG)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709160" y="3639312"/>
            <a:ext cx="4160520" cy="11430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709160" y="3639312"/>
            <a:ext cx="54864" cy="11430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873752" y="3685032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9770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06</a:t>
            </a:r>
            <a:endParaRPr lang="en-US" sz="2000" dirty="0"/>
          </a:p>
        </p:txBody>
      </p:sp>
      <p:sp>
        <p:nvSpPr>
          <p:cNvPr id="36" name="Text 33"/>
          <p:cNvSpPr/>
          <p:nvPr/>
        </p:nvSpPr>
        <p:spPr>
          <a:xfrm>
            <a:off x="5349240" y="3712464"/>
            <a:ext cx="33832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Eval scores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4892040" y="4096512"/>
            <a:ext cx="3840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Relevance / Groundedness / Tool Use shown live per response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320040" y="4681728"/>
            <a:ext cx="850392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9" name="Text 36"/>
          <p:cNvSpPr/>
          <p:nvPr/>
        </p:nvSpPr>
        <p:spPr>
          <a:xfrm>
            <a:off x="502920" y="4718304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⚡  Backup: </a:t>
            </a:r>
            <a:r>
              <a:rPr lang="de-DE" altLang="en-US" sz="9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video </a:t>
            </a:r>
            <a:r>
              <a:rPr lang="en-US" sz="9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ready in case of Pinecone / OpenAI API connectivity issues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4444</Words>
  <Application>WPS Presentation</Application>
  <PresentationFormat>On-screen Show (16:9)</PresentationFormat>
  <Paragraphs>302</Paragraphs>
  <Slides>9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21" baseType="lpstr">
      <vt:lpstr>Arial</vt:lpstr>
      <vt:lpstr>SimSun</vt:lpstr>
      <vt:lpstr>Wingdings</vt:lpstr>
      <vt:lpstr>Calibri</vt:lpstr>
      <vt:lpstr>Calibri</vt:lpstr>
      <vt:lpstr>Calibri</vt:lpstr>
      <vt:lpstr>Courier New</vt:lpstr>
      <vt:lpstr>Courier New</vt:lpstr>
      <vt:lpstr>Courier New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Multimodal AI ChatBot for YouTube Video QA</dc:title>
  <dc:creator>PptxGenJS</dc:creator>
  <dc:subject>PptxGenJS Presentation</dc:subject>
  <cp:lastModifiedBy>bianc</cp:lastModifiedBy>
  <cp:revision>19</cp:revision>
  <dcterms:created xsi:type="dcterms:W3CDTF">2026-03-12T18:01:00Z</dcterms:created>
  <dcterms:modified xsi:type="dcterms:W3CDTF">2026-03-13T14:31:55Z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3A53E3DADA6343C4A823C241A17638AC_12</vt:lpwstr>
  </property>
  <property fmtid="{D5CDD505-2E9C-101B-9397-08002B2CF9AE}" pid="3" name="KSOProductBuildVer">
    <vt:lpwstr>1033-12.9.0.21549</vt:lpwstr>
  </property>
</Properties>
</file>